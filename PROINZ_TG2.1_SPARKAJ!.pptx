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0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69" r:id="rId10"/>
    <p:sldId id="277" r:id="rId11"/>
    <p:sldId id="261" r:id="rId12"/>
    <p:sldId id="275" r:id="rId13"/>
    <p:sldId id="278" r:id="rId14"/>
    <p:sldId id="260" r:id="rId15"/>
    <p:sldId id="262" r:id="rId16"/>
    <p:sldId id="280" r:id="rId17"/>
    <p:sldId id="279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>
        <p:scale>
          <a:sx n="50" d="100"/>
          <a:sy n="50" d="100"/>
        </p:scale>
        <p:origin x="413" y="75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 smtClean="0"/>
              <a:t>SPARKAJ!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 smtClean="0"/>
              <a:t>2.1</a:t>
            </a:r>
            <a:r>
              <a:rPr lang="hr-HR" sz="1400" noProof="0" dirty="0" smtClean="0"/>
              <a:t> 404Found</a:t>
            </a:r>
            <a:endParaRPr lang="hr-HR" sz="1400" noProof="0" dirty="0"/>
          </a:p>
          <a:p>
            <a:r>
              <a:rPr lang="hr-HR" noProof="0" dirty="0"/>
              <a:t>Ak. god. 2025./</a:t>
            </a:r>
            <a:r>
              <a:rPr lang="hr-HR" noProof="0" dirty="0" smtClean="0"/>
              <a:t>2026.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800" noProof="0" dirty="0"/>
              <a:t>Opis zadatka</a:t>
            </a:r>
          </a:p>
          <a:p>
            <a:r>
              <a:rPr lang="hr-HR" sz="2800" noProof="0" dirty="0"/>
              <a:t>Pregled zahtjeva</a:t>
            </a:r>
          </a:p>
          <a:p>
            <a:r>
              <a:rPr lang="hr-HR" sz="2800" noProof="0" dirty="0"/>
              <a:t>Korišteni alati i tehnologije</a:t>
            </a:r>
          </a:p>
          <a:p>
            <a:r>
              <a:rPr lang="hr-HR" sz="2800" noProof="0" dirty="0"/>
              <a:t>Arhitektura</a:t>
            </a:r>
          </a:p>
          <a:p>
            <a:r>
              <a:rPr lang="hr-HR" sz="2800" noProof="0" dirty="0"/>
              <a:t>Organizacija rada </a:t>
            </a:r>
          </a:p>
          <a:p>
            <a:r>
              <a:rPr lang="hr-HR" sz="2800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800" noProof="0" dirty="0"/>
              <a:t>Članovi </a:t>
            </a:r>
            <a:r>
              <a:rPr lang="hr-HR" sz="2800" noProof="0" dirty="0" smtClean="0"/>
              <a:t>tima</a:t>
            </a:r>
            <a:endParaRPr lang="hr-HR" sz="2800" noProof="0" dirty="0"/>
          </a:p>
          <a:p>
            <a:r>
              <a:rPr lang="hr-HR" sz="2800" noProof="0" dirty="0"/>
              <a:t>Cilj projekta</a:t>
            </a:r>
          </a:p>
          <a:p>
            <a:r>
              <a:rPr lang="hr-HR" sz="2800" noProof="0" dirty="0"/>
              <a:t>Analiza i oblikovanje sustava	</a:t>
            </a:r>
          </a:p>
          <a:p>
            <a:pPr lvl="1"/>
            <a:r>
              <a:rPr lang="hr-HR" sz="2800" noProof="0" dirty="0"/>
              <a:t>Zahtjevi</a:t>
            </a:r>
          </a:p>
          <a:p>
            <a:pPr lvl="1"/>
            <a:r>
              <a:rPr lang="hr-HR" sz="2800" noProof="0" dirty="0"/>
              <a:t>Arhitektura</a:t>
            </a:r>
          </a:p>
          <a:p>
            <a:r>
              <a:rPr lang="hr-HR" sz="2800" noProof="0" dirty="0"/>
              <a:t>Organizacija rada </a:t>
            </a:r>
          </a:p>
          <a:p>
            <a:r>
              <a:rPr lang="hr-HR" sz="2800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800" noProof="0" dirty="0"/>
              <a:t>Imena članova i </a:t>
            </a:r>
            <a:r>
              <a:rPr lang="hr-HR" sz="2800" noProof="0" dirty="0" smtClean="0"/>
              <a:t>odgovornosti</a:t>
            </a:r>
          </a:p>
          <a:p>
            <a:pPr lvl="1"/>
            <a:r>
              <a:rPr lang="hr-HR" sz="2400" noProof="0" dirty="0" smtClean="0"/>
              <a:t>Frontend: Karlo Piškorić, Lovro Klanac</a:t>
            </a:r>
          </a:p>
          <a:p>
            <a:pPr lvl="1"/>
            <a:r>
              <a:rPr lang="hr-HR" sz="2400" dirty="0" smtClean="0"/>
              <a:t>Backend: Sven Oužecky, Marko Kovačev</a:t>
            </a:r>
          </a:p>
          <a:p>
            <a:pPr lvl="1"/>
            <a:r>
              <a:rPr lang="hr-HR" sz="2400" noProof="0" dirty="0" smtClean="0"/>
              <a:t>Servisi: Dorian Ceci, Luka Oslić</a:t>
            </a:r>
          </a:p>
          <a:p>
            <a:pPr lvl="1"/>
            <a:r>
              <a:rPr lang="hr-HR" sz="2400" dirty="0" smtClean="0"/>
              <a:t>Dokumentacija: Tonka Heckel</a:t>
            </a:r>
            <a:endParaRPr lang="hr-HR" sz="2400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en-US" sz="2800" dirty="0" err="1"/>
              <a:t>Aplikacija</a:t>
            </a:r>
            <a:r>
              <a:rPr lang="en-US" sz="2800" dirty="0"/>
              <a:t> </a:t>
            </a:r>
            <a:r>
              <a:rPr lang="en-US" sz="2800" dirty="0" err="1"/>
              <a:t>omogućuje</a:t>
            </a:r>
            <a:r>
              <a:rPr lang="en-US" sz="2800" dirty="0"/>
              <a:t> </a:t>
            </a:r>
            <a:r>
              <a:rPr lang="en-US" sz="2800" dirty="0" err="1"/>
              <a:t>izradu</a:t>
            </a:r>
            <a:r>
              <a:rPr lang="en-US" sz="2800" dirty="0"/>
              <a:t>, </a:t>
            </a:r>
            <a:r>
              <a:rPr lang="en-US" sz="2800" dirty="0" err="1"/>
              <a:t>objavu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upravljanje</a:t>
            </a:r>
            <a:r>
              <a:rPr lang="en-US" sz="2800" dirty="0"/>
              <a:t> </a:t>
            </a:r>
            <a:r>
              <a:rPr lang="en-US" sz="2800" dirty="0" err="1"/>
              <a:t>oglasima</a:t>
            </a:r>
            <a:r>
              <a:rPr lang="en-US" sz="2800" dirty="0"/>
              <a:t> </a:t>
            </a:r>
            <a:r>
              <a:rPr lang="hr-HR" sz="2800" dirty="0" smtClean="0"/>
              <a:t>za parking </a:t>
            </a:r>
            <a:r>
              <a:rPr lang="en-US" sz="2800" dirty="0" err="1" smtClean="0"/>
              <a:t>te</a:t>
            </a:r>
            <a:r>
              <a:rPr lang="en-US" sz="2800" dirty="0" smtClean="0"/>
              <a:t> </a:t>
            </a:r>
            <a:r>
              <a:rPr lang="en-US" sz="2800" dirty="0" err="1"/>
              <a:t>pregled</a:t>
            </a:r>
            <a:r>
              <a:rPr lang="en-US" sz="2800" dirty="0"/>
              <a:t> </a:t>
            </a:r>
            <a:r>
              <a:rPr lang="en-US" sz="2800" dirty="0" err="1"/>
              <a:t>dostupnosti</a:t>
            </a:r>
            <a:r>
              <a:rPr lang="en-US" sz="2800" dirty="0"/>
              <a:t> </a:t>
            </a:r>
            <a:r>
              <a:rPr lang="en-US" sz="2800" dirty="0" err="1"/>
              <a:t>termina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 smtClean="0"/>
              <a:t>rezervaciju</a:t>
            </a:r>
            <a:r>
              <a:rPr lang="hr-HR" sz="2800" dirty="0" smtClean="0"/>
              <a:t>.</a:t>
            </a:r>
          </a:p>
          <a:p>
            <a:pPr lvl="0"/>
            <a:endParaRPr lang="hr-HR" altLang="sr-Latn-RS" sz="2800" dirty="0" smtClean="0"/>
          </a:p>
          <a:p>
            <a:pPr lvl="0"/>
            <a:r>
              <a:rPr lang="en-US" sz="2800" dirty="0" err="1"/>
              <a:t>Cilj</a:t>
            </a:r>
            <a:r>
              <a:rPr lang="en-US" sz="2800" dirty="0"/>
              <a:t> </a:t>
            </a:r>
            <a:r>
              <a:rPr lang="en-US" sz="2800" dirty="0" err="1"/>
              <a:t>aplikacije</a:t>
            </a:r>
            <a:r>
              <a:rPr lang="en-US" sz="2800" dirty="0"/>
              <a:t> je </a:t>
            </a:r>
            <a:r>
              <a:rPr lang="en-US" sz="2800" dirty="0" err="1"/>
              <a:t>pružiti</a:t>
            </a:r>
            <a:r>
              <a:rPr lang="en-US" sz="2800" dirty="0"/>
              <a:t> </a:t>
            </a:r>
            <a:r>
              <a:rPr lang="en-US" sz="2800" dirty="0" err="1"/>
              <a:t>jednostavno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pregledno</a:t>
            </a:r>
            <a:r>
              <a:rPr lang="en-US" sz="2800" dirty="0"/>
              <a:t> </a:t>
            </a:r>
            <a:r>
              <a:rPr lang="en-US" sz="2800" dirty="0" err="1"/>
              <a:t>rješenje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upravljanje</a:t>
            </a:r>
            <a:r>
              <a:rPr lang="en-US" sz="2800" dirty="0"/>
              <a:t> </a:t>
            </a:r>
            <a:r>
              <a:rPr lang="en-US" sz="2800" dirty="0" err="1"/>
              <a:t>oglasima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rezervacijama</a:t>
            </a:r>
            <a:r>
              <a:rPr lang="en-US" sz="2800" dirty="0"/>
              <a:t> </a:t>
            </a:r>
            <a:r>
              <a:rPr lang="en-US" sz="2800" dirty="0" err="1"/>
              <a:t>kroz</a:t>
            </a:r>
            <a:r>
              <a:rPr lang="en-US" sz="2800" dirty="0"/>
              <a:t> web </a:t>
            </a:r>
            <a:r>
              <a:rPr lang="en-US" sz="2800" dirty="0" err="1"/>
              <a:t>sučelje</a:t>
            </a:r>
            <a:r>
              <a:rPr lang="en-US" sz="2800" dirty="0" smtClean="0"/>
              <a:t>.</a:t>
            </a:r>
            <a:endParaRPr lang="hr-HR" sz="2800" dirty="0" smtClean="0"/>
          </a:p>
          <a:p>
            <a:pPr lvl="0"/>
            <a:endParaRPr lang="hr-HR" altLang="sr-Latn-RS" sz="2800" dirty="0"/>
          </a:p>
          <a:p>
            <a:pPr lvl="0"/>
            <a:r>
              <a:rPr lang="en-US" sz="2800" dirty="0" err="1"/>
              <a:t>Postoje</a:t>
            </a:r>
            <a:r>
              <a:rPr lang="en-US" sz="2800" dirty="0"/>
              <a:t> </a:t>
            </a:r>
            <a:r>
              <a:rPr lang="en-US" sz="2800" dirty="0" err="1"/>
              <a:t>slične</a:t>
            </a:r>
            <a:r>
              <a:rPr lang="en-US" sz="2800" dirty="0"/>
              <a:t> </a:t>
            </a:r>
            <a:r>
              <a:rPr lang="en-US" sz="2800" dirty="0" err="1"/>
              <a:t>aplikacije</a:t>
            </a:r>
            <a:r>
              <a:rPr lang="en-US" sz="2800" dirty="0"/>
              <a:t>, </a:t>
            </a:r>
            <a:r>
              <a:rPr lang="en-US" sz="2800" dirty="0" err="1"/>
              <a:t>ali</a:t>
            </a:r>
            <a:r>
              <a:rPr lang="en-US" sz="2800" dirty="0"/>
              <a:t> </a:t>
            </a:r>
            <a:r>
              <a:rPr lang="en-US" sz="2800" dirty="0" err="1"/>
              <a:t>prednost</a:t>
            </a:r>
            <a:r>
              <a:rPr lang="en-US" sz="2800" dirty="0"/>
              <a:t> </a:t>
            </a:r>
            <a:r>
              <a:rPr lang="en-US" sz="2800" dirty="0" err="1"/>
              <a:t>ove</a:t>
            </a:r>
            <a:r>
              <a:rPr lang="en-US" sz="2800" dirty="0"/>
              <a:t> </a:t>
            </a:r>
            <a:r>
              <a:rPr lang="en-US" sz="2800" dirty="0" err="1"/>
              <a:t>aplikacije</a:t>
            </a:r>
            <a:r>
              <a:rPr lang="en-US" sz="2800" dirty="0"/>
              <a:t> je </a:t>
            </a:r>
            <a:r>
              <a:rPr lang="en-US" sz="2800" dirty="0" err="1"/>
              <a:t>jednostavnost</a:t>
            </a:r>
            <a:r>
              <a:rPr lang="en-US" sz="2800" dirty="0"/>
              <a:t> </a:t>
            </a:r>
            <a:r>
              <a:rPr lang="en-US" sz="2800" dirty="0" err="1" smtClean="0"/>
              <a:t>korištenja</a:t>
            </a:r>
            <a:r>
              <a:rPr lang="hr-HR" sz="2800" dirty="0" smtClean="0"/>
              <a:t> i</a:t>
            </a:r>
            <a:r>
              <a:rPr lang="en-US" sz="2800" dirty="0" smtClean="0"/>
              <a:t> </a:t>
            </a:r>
            <a:r>
              <a:rPr lang="en-US" sz="2800" dirty="0" err="1"/>
              <a:t>jasno</a:t>
            </a:r>
            <a:r>
              <a:rPr lang="en-US" sz="2800" dirty="0"/>
              <a:t> </a:t>
            </a:r>
            <a:r>
              <a:rPr lang="en-US" sz="2800" dirty="0" err="1"/>
              <a:t>definirane</a:t>
            </a:r>
            <a:r>
              <a:rPr lang="en-US" sz="2800" dirty="0"/>
              <a:t> </a:t>
            </a:r>
            <a:r>
              <a:rPr lang="en-US" sz="2800" dirty="0" err="1" smtClean="0"/>
              <a:t>funkcionalnosti</a:t>
            </a:r>
            <a:r>
              <a:rPr lang="hr-HR" sz="2800" dirty="0" smtClean="0"/>
              <a:t>.</a:t>
            </a:r>
            <a:endParaRPr lang="hr-HR" altLang="sr-Latn-R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800" noProof="0" dirty="0" smtClean="0"/>
              <a:t>Glavni funkcionalni zahtjevi:</a:t>
            </a:r>
          </a:p>
          <a:p>
            <a:pPr lvl="1"/>
            <a:r>
              <a:rPr lang="hr-HR" sz="2800" noProof="0" dirty="0" smtClean="0"/>
              <a:t>Korisnici se mogu registrirati i prijaviti</a:t>
            </a:r>
          </a:p>
          <a:p>
            <a:pPr lvl="1"/>
            <a:r>
              <a:rPr lang="hr-HR" sz="2800" dirty="0" smtClean="0"/>
              <a:t>Korisnici mogu kreiriati, uređivati i brisati oglase</a:t>
            </a:r>
          </a:p>
          <a:p>
            <a:pPr lvl="1"/>
            <a:r>
              <a:rPr lang="hr-HR" sz="2800" noProof="0" dirty="0" smtClean="0"/>
              <a:t>Korisnici mogu pretraživati i filtrirati oglase</a:t>
            </a:r>
          </a:p>
          <a:p>
            <a:pPr lvl="1"/>
            <a:r>
              <a:rPr lang="hr-HR" sz="2800" dirty="0" smtClean="0"/>
              <a:t>Korisnici mogu rezervirati parkirno mjesto</a:t>
            </a:r>
          </a:p>
          <a:p>
            <a:pPr lvl="1"/>
            <a:r>
              <a:rPr lang="hr-HR" sz="2800" noProof="0" dirty="0" smtClean="0"/>
              <a:t>Sustav omogućuje plaćanje</a:t>
            </a:r>
          </a:p>
          <a:p>
            <a:pPr lvl="1"/>
            <a:r>
              <a:rPr lang="hr-HR" sz="2800" dirty="0" smtClean="0"/>
              <a:t>Korisnici mogu ocijeniti uslugu</a:t>
            </a:r>
          </a:p>
          <a:p>
            <a:pPr lvl="1"/>
            <a:r>
              <a:rPr lang="hr-HR" sz="2800" dirty="0" smtClean="0"/>
              <a:t>Administrator može moderirati oglase i korisnike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800" dirty="0" smtClean="0"/>
              <a:t>Glavni nefunkcionalni zahtjevi:</a:t>
            </a:r>
          </a:p>
          <a:p>
            <a:pPr lvl="1"/>
            <a:r>
              <a:rPr lang="hr-HR" sz="2800" dirty="0" err="1"/>
              <a:t>S</a:t>
            </a:r>
            <a:r>
              <a:rPr lang="en-US" sz="2800" dirty="0" err="1" smtClean="0"/>
              <a:t>ustav</a:t>
            </a:r>
            <a:r>
              <a:rPr lang="en-US" sz="2800" dirty="0" smtClean="0"/>
              <a:t> </a:t>
            </a:r>
            <a:r>
              <a:rPr lang="en-US" sz="2800" dirty="0"/>
              <a:t>mora </a:t>
            </a:r>
            <a:r>
              <a:rPr lang="en-US" sz="2800" dirty="0" err="1"/>
              <a:t>biti</a:t>
            </a:r>
            <a:r>
              <a:rPr lang="en-US" sz="2800" dirty="0"/>
              <a:t> </a:t>
            </a:r>
            <a:r>
              <a:rPr lang="en-US" sz="2800" dirty="0" err="1"/>
              <a:t>responzivan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mobilnim</a:t>
            </a:r>
            <a:r>
              <a:rPr lang="en-US" sz="2800" dirty="0"/>
              <a:t> </a:t>
            </a:r>
            <a:r>
              <a:rPr lang="en-US" sz="2800" dirty="0" err="1"/>
              <a:t>uređajima</a:t>
            </a:r>
            <a:r>
              <a:rPr lang="en-US" sz="2800" dirty="0"/>
              <a:t>, </a:t>
            </a:r>
            <a:r>
              <a:rPr lang="en-US" sz="2800" dirty="0" err="1"/>
              <a:t>tabletima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smtClean="0"/>
              <a:t>desktop</a:t>
            </a:r>
            <a:endParaRPr lang="hr-HR" sz="2800" dirty="0" smtClean="0"/>
          </a:p>
          <a:p>
            <a:pPr lvl="1"/>
            <a:r>
              <a:rPr lang="hr-HR" sz="2800" dirty="0" err="1" smtClean="0"/>
              <a:t>V</a:t>
            </a:r>
            <a:r>
              <a:rPr lang="en-US" sz="2800" dirty="0" err="1" smtClean="0"/>
              <a:t>rijeme</a:t>
            </a:r>
            <a:r>
              <a:rPr lang="en-US" sz="2800" dirty="0" smtClean="0"/>
              <a:t> </a:t>
            </a:r>
            <a:r>
              <a:rPr lang="en-US" sz="2800" dirty="0" err="1"/>
              <a:t>odziva</a:t>
            </a:r>
            <a:r>
              <a:rPr lang="en-US" sz="2800" dirty="0"/>
              <a:t> </a:t>
            </a:r>
            <a:r>
              <a:rPr lang="en-US" sz="2800" dirty="0" err="1"/>
              <a:t>sustava</a:t>
            </a:r>
            <a:r>
              <a:rPr lang="en-US" sz="2800" dirty="0"/>
              <a:t> ne </a:t>
            </a:r>
            <a:r>
              <a:rPr lang="en-US" sz="2800" dirty="0" err="1"/>
              <a:t>smije</a:t>
            </a:r>
            <a:r>
              <a:rPr lang="en-US" sz="2800" dirty="0"/>
              <a:t> </a:t>
            </a:r>
            <a:r>
              <a:rPr lang="en-US" sz="2800" dirty="0" err="1"/>
              <a:t>prelaziti</a:t>
            </a:r>
            <a:r>
              <a:rPr lang="en-US" sz="2800" dirty="0"/>
              <a:t> 4 </a:t>
            </a:r>
            <a:r>
              <a:rPr lang="en-US" sz="2800" dirty="0" err="1"/>
              <a:t>sekunde</a:t>
            </a:r>
            <a:r>
              <a:rPr lang="en-US" sz="2800" dirty="0"/>
              <a:t> </a:t>
            </a:r>
            <a:r>
              <a:rPr lang="en-US" sz="2800" dirty="0" err="1"/>
              <a:t>pri</a:t>
            </a:r>
            <a:r>
              <a:rPr lang="en-US" sz="2800" dirty="0"/>
              <a:t> </a:t>
            </a:r>
            <a:r>
              <a:rPr lang="en-US" sz="2800" dirty="0" err="1"/>
              <a:t>normalnom</a:t>
            </a:r>
            <a:r>
              <a:rPr lang="en-US" sz="2800" dirty="0"/>
              <a:t> </a:t>
            </a:r>
            <a:r>
              <a:rPr lang="en-US" sz="2800" dirty="0" err="1" smtClean="0"/>
              <a:t>opterećenju</a:t>
            </a:r>
            <a:endParaRPr lang="hr-HR" sz="2800" dirty="0" smtClean="0"/>
          </a:p>
          <a:p>
            <a:pPr lvl="1"/>
            <a:r>
              <a:rPr lang="hr-HR" sz="2800" dirty="0" smtClean="0"/>
              <a:t>S</a:t>
            </a:r>
            <a:r>
              <a:rPr lang="it-IT" sz="2800" dirty="0" smtClean="0"/>
              <a:t>učelje </a:t>
            </a:r>
            <a:r>
              <a:rPr lang="it-IT" sz="2800" dirty="0"/>
              <a:t>mora biti pregledno i </a:t>
            </a:r>
            <a:r>
              <a:rPr lang="it-IT" sz="2800" dirty="0" smtClean="0"/>
              <a:t>intuitivn</a:t>
            </a:r>
            <a:r>
              <a:rPr lang="hr-HR" sz="2800" dirty="0" smtClean="0"/>
              <a:t>o</a:t>
            </a:r>
          </a:p>
          <a:p>
            <a:pPr lvl="1"/>
            <a:r>
              <a:rPr lang="hr-HR" sz="2800" dirty="0" err="1" smtClean="0"/>
              <a:t>S</a:t>
            </a:r>
            <a:r>
              <a:rPr lang="en-US" sz="2800" dirty="0" err="1" smtClean="0"/>
              <a:t>va</a:t>
            </a:r>
            <a:r>
              <a:rPr lang="en-US" sz="2800" dirty="0" smtClean="0"/>
              <a:t> </a:t>
            </a:r>
            <a:r>
              <a:rPr lang="en-US" sz="2800" dirty="0" err="1"/>
              <a:t>komunikacija</a:t>
            </a:r>
            <a:r>
              <a:rPr lang="en-US" sz="2800" dirty="0"/>
              <a:t> mora se </a:t>
            </a:r>
            <a:r>
              <a:rPr lang="en-US" sz="2800" dirty="0" err="1"/>
              <a:t>odvijati</a:t>
            </a:r>
            <a:r>
              <a:rPr lang="en-US" sz="2800" dirty="0"/>
              <a:t> </a:t>
            </a:r>
            <a:r>
              <a:rPr lang="en-US" sz="2800" dirty="0" err="1"/>
              <a:t>putem</a:t>
            </a:r>
            <a:r>
              <a:rPr lang="en-US" sz="2800" dirty="0"/>
              <a:t> HTTPS </a:t>
            </a:r>
            <a:r>
              <a:rPr lang="en-US" sz="2800" dirty="0" err="1" smtClean="0"/>
              <a:t>protokola</a:t>
            </a:r>
            <a:endParaRPr lang="hr-HR" sz="2800" dirty="0" smtClean="0"/>
          </a:p>
          <a:p>
            <a:pPr marL="144000" lvl="1" indent="0"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hr-HR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90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9" y="1036435"/>
            <a:ext cx="7041361" cy="527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SEKVENCIJSKI DIJAGRAM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9" y="982312"/>
            <a:ext cx="7082961" cy="54006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3213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i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79" y="1457120"/>
            <a:ext cx="6644640" cy="442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r-HR" sz="2800" noProof="0" dirty="0" smtClean="0"/>
              <a:t>Ispitivanje komponenti:</a:t>
            </a:r>
          </a:p>
          <a:p>
            <a:pPr lvl="1"/>
            <a:r>
              <a:rPr lang="en-US" sz="2800" dirty="0"/>
              <a:t>test </a:t>
            </a:r>
            <a:r>
              <a:rPr lang="en-US" sz="2800" dirty="0" err="1"/>
              <a:t>kreiranja</a:t>
            </a:r>
            <a:r>
              <a:rPr lang="en-US" sz="2800" dirty="0"/>
              <a:t> </a:t>
            </a:r>
            <a:r>
              <a:rPr lang="en-US" sz="2800" dirty="0" err="1"/>
              <a:t>oglasa</a:t>
            </a:r>
            <a:r>
              <a:rPr lang="en-US" sz="2800" dirty="0"/>
              <a:t> – </a:t>
            </a:r>
            <a:r>
              <a:rPr lang="en-US" sz="2800" dirty="0" err="1"/>
              <a:t>provjerava</a:t>
            </a:r>
            <a:r>
              <a:rPr lang="en-US" sz="2800" dirty="0"/>
              <a:t> da se </a:t>
            </a:r>
            <a:r>
              <a:rPr lang="en-US" sz="2800" dirty="0" err="1"/>
              <a:t>oglas</a:t>
            </a:r>
            <a:r>
              <a:rPr lang="en-US" sz="2800" dirty="0"/>
              <a:t> </a:t>
            </a:r>
            <a:r>
              <a:rPr lang="en-US" sz="2800" dirty="0" err="1"/>
              <a:t>uspješno</a:t>
            </a:r>
            <a:r>
              <a:rPr lang="en-US" sz="2800" dirty="0"/>
              <a:t> </a:t>
            </a:r>
            <a:r>
              <a:rPr lang="en-US" sz="2800" dirty="0" err="1" smtClean="0"/>
              <a:t>stvori</a:t>
            </a:r>
            <a:endParaRPr lang="hr-HR" sz="2800" dirty="0" smtClean="0"/>
          </a:p>
          <a:p>
            <a:pPr lvl="1"/>
            <a:r>
              <a:rPr lang="en-US" sz="2800" dirty="0" smtClean="0"/>
              <a:t>test </a:t>
            </a:r>
            <a:r>
              <a:rPr lang="en-US" sz="2800" dirty="0" err="1"/>
              <a:t>dohvaćanja</a:t>
            </a:r>
            <a:r>
              <a:rPr lang="en-US" sz="2800" dirty="0"/>
              <a:t> </a:t>
            </a:r>
            <a:r>
              <a:rPr lang="en-US" sz="2800" dirty="0" err="1"/>
              <a:t>nepostojećeg</a:t>
            </a:r>
            <a:r>
              <a:rPr lang="en-US" sz="2800" dirty="0"/>
              <a:t> </a:t>
            </a:r>
            <a:r>
              <a:rPr lang="en-US" sz="2800" dirty="0" err="1"/>
              <a:t>oglasa</a:t>
            </a:r>
            <a:r>
              <a:rPr lang="en-US" sz="2800" dirty="0"/>
              <a:t> – </a:t>
            </a:r>
            <a:r>
              <a:rPr lang="en-US" sz="2800" dirty="0" err="1"/>
              <a:t>provjerava</a:t>
            </a:r>
            <a:r>
              <a:rPr lang="en-US" sz="2800" dirty="0"/>
              <a:t> </a:t>
            </a:r>
            <a:r>
              <a:rPr lang="en-US" sz="2800" dirty="0" err="1"/>
              <a:t>vraćanje</a:t>
            </a:r>
            <a:r>
              <a:rPr lang="en-US" sz="2800" dirty="0"/>
              <a:t> </a:t>
            </a:r>
            <a:r>
              <a:rPr lang="en-US" sz="2800" dirty="0" smtClean="0"/>
              <a:t>null</a:t>
            </a:r>
            <a:endParaRPr lang="hr-HR" sz="2800" dirty="0" smtClean="0"/>
          </a:p>
          <a:p>
            <a:pPr lvl="1"/>
            <a:r>
              <a:rPr lang="en-US" sz="2800" dirty="0" smtClean="0"/>
              <a:t>test </a:t>
            </a:r>
            <a:r>
              <a:rPr lang="en-US" sz="2800" dirty="0" err="1"/>
              <a:t>kreiranja</a:t>
            </a:r>
            <a:r>
              <a:rPr lang="en-US" sz="2800" dirty="0"/>
              <a:t> </a:t>
            </a:r>
            <a:r>
              <a:rPr lang="en-US" sz="2800" dirty="0" err="1"/>
              <a:t>korisnika</a:t>
            </a:r>
            <a:r>
              <a:rPr lang="en-US" sz="2800" dirty="0"/>
              <a:t> – </a:t>
            </a:r>
            <a:r>
              <a:rPr lang="en-US" sz="2800" dirty="0" err="1"/>
              <a:t>provjerava</a:t>
            </a:r>
            <a:r>
              <a:rPr lang="en-US" sz="2800" dirty="0"/>
              <a:t> da se </a:t>
            </a:r>
            <a:r>
              <a:rPr lang="en-US" sz="2800" dirty="0" err="1"/>
              <a:t>korisnik</a:t>
            </a:r>
            <a:r>
              <a:rPr lang="en-US" sz="2800" dirty="0"/>
              <a:t> </a:t>
            </a:r>
            <a:r>
              <a:rPr lang="en-US" sz="2800" dirty="0" err="1"/>
              <a:t>uspješno</a:t>
            </a:r>
            <a:r>
              <a:rPr lang="en-US" sz="2800" dirty="0"/>
              <a:t> </a:t>
            </a:r>
            <a:r>
              <a:rPr lang="en-US" sz="2800" dirty="0" err="1"/>
              <a:t>kreira</a:t>
            </a:r>
            <a:endParaRPr lang="hr-HR" sz="2800" noProof="0" dirty="0" smtClean="0"/>
          </a:p>
          <a:p>
            <a:endParaRPr lang="hr-HR" sz="2800" dirty="0" smtClean="0"/>
          </a:p>
          <a:p>
            <a:endParaRPr lang="hr-HR" sz="2800" noProof="0" dirty="0"/>
          </a:p>
          <a:p>
            <a:endParaRPr lang="hr-HR" sz="28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ISPITIVANJE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800" dirty="0"/>
              <a:t>Ispitivanje sustava:</a:t>
            </a:r>
          </a:p>
          <a:p>
            <a:pPr lvl="1"/>
            <a:r>
              <a:rPr lang="en-US" sz="2800" dirty="0"/>
              <a:t>test </a:t>
            </a:r>
            <a:r>
              <a:rPr lang="en-US" sz="2800" dirty="0" err="1"/>
              <a:t>prijave</a:t>
            </a:r>
            <a:r>
              <a:rPr lang="en-US" sz="2800" dirty="0"/>
              <a:t> </a:t>
            </a:r>
            <a:r>
              <a:rPr lang="en-US" sz="2800" dirty="0" err="1"/>
              <a:t>korisnika</a:t>
            </a:r>
            <a:r>
              <a:rPr lang="en-US" sz="2800" dirty="0"/>
              <a:t> – </a:t>
            </a:r>
            <a:r>
              <a:rPr lang="en-US" sz="2800" dirty="0" err="1"/>
              <a:t>provjerava</a:t>
            </a:r>
            <a:r>
              <a:rPr lang="en-US" sz="2800" dirty="0"/>
              <a:t> </a:t>
            </a:r>
            <a:r>
              <a:rPr lang="en-US" sz="2800" dirty="0" err="1"/>
              <a:t>uspješnu</a:t>
            </a:r>
            <a:r>
              <a:rPr lang="en-US" sz="2800" dirty="0"/>
              <a:t> OAuth2 </a:t>
            </a:r>
            <a:r>
              <a:rPr lang="en-US" sz="2800" dirty="0" err="1"/>
              <a:t>autentifikaciju</a:t>
            </a:r>
            <a:endParaRPr lang="hr-HR" sz="2800" dirty="0"/>
          </a:p>
          <a:p>
            <a:pPr lvl="1"/>
            <a:r>
              <a:rPr lang="en-US" sz="2800" dirty="0"/>
              <a:t>test </a:t>
            </a:r>
            <a:r>
              <a:rPr lang="en-US" sz="2800" dirty="0" err="1"/>
              <a:t>rezervacije</a:t>
            </a:r>
            <a:r>
              <a:rPr lang="en-US" sz="2800" dirty="0"/>
              <a:t> – </a:t>
            </a:r>
            <a:r>
              <a:rPr lang="en-US" sz="2800" dirty="0" err="1"/>
              <a:t>provjerava</a:t>
            </a:r>
            <a:r>
              <a:rPr lang="en-US" sz="2800" dirty="0"/>
              <a:t> </a:t>
            </a:r>
            <a:r>
              <a:rPr lang="en-US" sz="2800" dirty="0" err="1"/>
              <a:t>potvrdu</a:t>
            </a:r>
            <a:r>
              <a:rPr lang="en-US" sz="2800" dirty="0"/>
              <a:t> </a:t>
            </a:r>
            <a:r>
              <a:rPr lang="en-US" sz="2800" dirty="0" err="1"/>
              <a:t>rezervacije</a:t>
            </a:r>
            <a:r>
              <a:rPr lang="en-US" sz="2800" dirty="0"/>
              <a:t> </a:t>
            </a:r>
            <a:r>
              <a:rPr lang="en-US" sz="2800" dirty="0" err="1"/>
              <a:t>parkirnog</a:t>
            </a:r>
            <a:r>
              <a:rPr lang="en-US" sz="2800" dirty="0"/>
              <a:t> </a:t>
            </a:r>
            <a:r>
              <a:rPr lang="en-US" sz="2800" dirty="0" err="1"/>
              <a:t>mjesta</a:t>
            </a:r>
            <a:endParaRPr lang="hr-HR" sz="2800" dirty="0"/>
          </a:p>
          <a:p>
            <a:pPr lvl="1"/>
            <a:r>
              <a:rPr lang="hr-HR" sz="2800" dirty="0" smtClean="0"/>
              <a:t>test recenzije – provjerava potvrdu recenzije parkirnog mjesta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5501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Frontend: </a:t>
            </a:r>
            <a:r>
              <a:rPr lang="en-US" sz="2800" dirty="0" smtClean="0"/>
              <a:t>React.js</a:t>
            </a:r>
            <a:endParaRPr lang="hr-HR" sz="2800" dirty="0" smtClean="0"/>
          </a:p>
          <a:p>
            <a:r>
              <a:rPr lang="en-US" sz="2800" dirty="0" smtClean="0"/>
              <a:t>Backend</a:t>
            </a:r>
            <a:r>
              <a:rPr lang="en-US" sz="2800" dirty="0"/>
              <a:t>: Spring </a:t>
            </a:r>
            <a:r>
              <a:rPr lang="en-US" sz="2800" dirty="0" smtClean="0"/>
              <a:t>Framework</a:t>
            </a:r>
            <a:endParaRPr lang="hr-HR" sz="2800" dirty="0" smtClean="0"/>
          </a:p>
          <a:p>
            <a:r>
              <a:rPr lang="en-US" sz="2800" dirty="0" err="1" smtClean="0"/>
              <a:t>Autentifikacija</a:t>
            </a:r>
            <a:r>
              <a:rPr lang="en-US" sz="2800" dirty="0"/>
              <a:t>: OAuth </a:t>
            </a:r>
            <a:r>
              <a:rPr lang="en-US" sz="2800" dirty="0" smtClean="0"/>
              <a:t>2.0</a:t>
            </a:r>
            <a:endParaRPr lang="hr-HR" sz="2800" dirty="0" smtClean="0"/>
          </a:p>
          <a:p>
            <a:r>
              <a:rPr lang="en-US" sz="2800" dirty="0" err="1" smtClean="0"/>
              <a:t>Plaćanje</a:t>
            </a:r>
            <a:r>
              <a:rPr lang="en-US" sz="2800" dirty="0"/>
              <a:t>: Stripe </a:t>
            </a:r>
            <a:r>
              <a:rPr lang="en-US" sz="2800" dirty="0" smtClean="0"/>
              <a:t>API</a:t>
            </a:r>
            <a:endParaRPr lang="hr-HR" sz="2800" dirty="0" smtClean="0"/>
          </a:p>
          <a:p>
            <a:r>
              <a:rPr lang="en-US" sz="2800" dirty="0" err="1" smtClean="0"/>
              <a:t>Mapa</a:t>
            </a:r>
            <a:r>
              <a:rPr lang="en-US" sz="2800" dirty="0" smtClean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lokacije</a:t>
            </a:r>
            <a:r>
              <a:rPr lang="en-US" sz="2800" dirty="0"/>
              <a:t>: Google Maps </a:t>
            </a:r>
            <a:r>
              <a:rPr lang="en-US" sz="2800" dirty="0" smtClean="0"/>
              <a:t>API</a:t>
            </a:r>
            <a:endParaRPr lang="hr-HR" sz="2800" dirty="0" smtClean="0"/>
          </a:p>
          <a:p>
            <a:r>
              <a:rPr lang="en-US" sz="2800" dirty="0" err="1" smtClean="0"/>
              <a:t>Baza</a:t>
            </a:r>
            <a:r>
              <a:rPr lang="en-US" sz="2800" dirty="0" smtClean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: </a:t>
            </a:r>
            <a:r>
              <a:rPr lang="hr-HR" sz="2800" dirty="0" smtClean="0"/>
              <a:t>Supabase</a:t>
            </a:r>
          </a:p>
          <a:p>
            <a:r>
              <a:rPr lang="en-US" sz="2800" dirty="0" err="1" smtClean="0"/>
              <a:t>Smještaj</a:t>
            </a:r>
            <a:r>
              <a:rPr lang="en-US" sz="2800" dirty="0" smtClean="0"/>
              <a:t> </a:t>
            </a:r>
            <a:r>
              <a:rPr lang="en-US" sz="2800" dirty="0" err="1"/>
              <a:t>aplikacije</a:t>
            </a:r>
            <a:r>
              <a:rPr lang="en-US" sz="2800" dirty="0"/>
              <a:t>: </a:t>
            </a:r>
            <a:r>
              <a:rPr lang="en-US" sz="2800" dirty="0" smtClean="0"/>
              <a:t>Render</a:t>
            </a:r>
            <a:endParaRPr lang="hr-HR" sz="2800" dirty="0" smtClean="0"/>
          </a:p>
          <a:p>
            <a:r>
              <a:rPr lang="en-US" sz="2800" dirty="0" err="1" smtClean="0"/>
              <a:t>Dodatni</a:t>
            </a:r>
            <a:r>
              <a:rPr lang="en-US" sz="2800" dirty="0" smtClean="0"/>
              <a:t> </a:t>
            </a:r>
            <a:r>
              <a:rPr lang="en-US" sz="2800" dirty="0" err="1"/>
              <a:t>alati</a:t>
            </a:r>
            <a:r>
              <a:rPr lang="en-US" sz="2800" dirty="0"/>
              <a:t>: GitHub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 smtClean="0"/>
              <a:t>verzioniranje</a:t>
            </a:r>
            <a:endParaRPr lang="hr-HR" sz="28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hr-HR" sz="2800" noProof="0" dirty="0" smtClean="0"/>
              <a:t>Organizacija komunikacije:</a:t>
            </a:r>
          </a:p>
          <a:p>
            <a:pPr lvl="2"/>
            <a:r>
              <a:rPr lang="hr-HR" sz="2800" noProof="0" dirty="0" smtClean="0"/>
              <a:t>Github</a:t>
            </a:r>
          </a:p>
          <a:p>
            <a:pPr lvl="2"/>
            <a:r>
              <a:rPr lang="hr-HR" sz="2800" dirty="0" smtClean="0"/>
              <a:t>Whatsapp</a:t>
            </a:r>
          </a:p>
          <a:p>
            <a:pPr lvl="2"/>
            <a:r>
              <a:rPr lang="hr-HR" sz="2800" noProof="0" dirty="0" smtClean="0"/>
              <a:t>Discord (online call)</a:t>
            </a:r>
          </a:p>
          <a:p>
            <a:pPr lvl="2"/>
            <a:r>
              <a:rPr lang="hr-HR" sz="2800" noProof="0" dirty="0" smtClean="0"/>
              <a:t>Sastanci uživo</a:t>
            </a:r>
          </a:p>
          <a:p>
            <a:pPr lvl="2"/>
            <a:endParaRPr lang="hr-HR" sz="2800" noProof="0" dirty="0" smtClean="0"/>
          </a:p>
          <a:p>
            <a:pPr lvl="1"/>
            <a:r>
              <a:rPr lang="hr-HR" sz="2800" dirty="0"/>
              <a:t>GitHub iskustvo:</a:t>
            </a:r>
          </a:p>
          <a:p>
            <a:pPr lvl="2"/>
            <a:r>
              <a:rPr lang="en-US" sz="2800" dirty="0"/>
              <a:t>rad s </a:t>
            </a:r>
            <a:r>
              <a:rPr lang="en-US" sz="2800" dirty="0" err="1"/>
              <a:t>granama</a:t>
            </a:r>
            <a:r>
              <a:rPr lang="en-US" sz="2800" dirty="0"/>
              <a:t>, pull </a:t>
            </a:r>
            <a:r>
              <a:rPr lang="en-US" sz="2800" dirty="0" err="1"/>
              <a:t>requestovima</a:t>
            </a:r>
            <a:r>
              <a:rPr lang="en-US" sz="2800" dirty="0"/>
              <a:t>, </a:t>
            </a:r>
            <a:r>
              <a:rPr lang="en-US" sz="2800" dirty="0" err="1"/>
              <a:t>rješavanje</a:t>
            </a:r>
            <a:r>
              <a:rPr lang="en-US" sz="2800" dirty="0"/>
              <a:t> </a:t>
            </a:r>
            <a:r>
              <a:rPr lang="en-US" sz="2800" dirty="0" err="1"/>
              <a:t>konflikata</a:t>
            </a:r>
            <a:r>
              <a:rPr lang="en-US" sz="2800" dirty="0"/>
              <a:t>, </a:t>
            </a:r>
            <a:r>
              <a:rPr lang="en-US" sz="2800" dirty="0" err="1"/>
              <a:t>praćenje</a:t>
            </a:r>
            <a:r>
              <a:rPr lang="en-US" sz="2800" dirty="0"/>
              <a:t> </a:t>
            </a:r>
            <a:r>
              <a:rPr lang="en-US" sz="2800" dirty="0" err="1"/>
              <a:t>verzija</a:t>
            </a:r>
            <a:r>
              <a:rPr lang="en-US" sz="2800" dirty="0"/>
              <a:t> </a:t>
            </a:r>
            <a:r>
              <a:rPr lang="en-US" sz="2800" dirty="0" err="1"/>
              <a:t>koda</a:t>
            </a:r>
            <a:endParaRPr lang="hr-HR" sz="2800" dirty="0"/>
          </a:p>
          <a:p>
            <a:pPr marL="354375" lvl="2" indent="0">
              <a:buNone/>
            </a:pPr>
            <a:endParaRPr lang="hr-HR" sz="2800" noProof="0" dirty="0"/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ORGANIZACIJA RADA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hr-HR" sz="3000" dirty="0"/>
              <a:t>Primijenjeni model životnog </a:t>
            </a:r>
            <a:r>
              <a:rPr lang="hr-HR" sz="3000" dirty="0" smtClean="0"/>
              <a:t>ciklusa</a:t>
            </a:r>
          </a:p>
          <a:p>
            <a:pPr lvl="2"/>
            <a:r>
              <a:rPr lang="hr-HR" sz="3000" dirty="0"/>
              <a:t>Kombinacija vodopadnog i Ad-hoc pristupa</a:t>
            </a:r>
          </a:p>
          <a:p>
            <a:pPr lvl="2"/>
            <a:endParaRPr lang="hr-HR" sz="3000" dirty="0" smtClean="0"/>
          </a:p>
          <a:p>
            <a:pPr lvl="1"/>
            <a:r>
              <a:rPr lang="hr-HR" sz="3000" dirty="0" smtClean="0"/>
              <a:t>Vremenski okvir razvoja</a:t>
            </a:r>
          </a:p>
          <a:p>
            <a:pPr lvl="2"/>
            <a:r>
              <a:rPr lang="hr-HR" sz="3000" dirty="0"/>
              <a:t>S</a:t>
            </a:r>
            <a:r>
              <a:rPr lang="hr-HR" sz="3000" dirty="0" smtClean="0"/>
              <a:t>pecifikacija: 3 tjedna</a:t>
            </a:r>
          </a:p>
          <a:p>
            <a:pPr lvl="2"/>
            <a:r>
              <a:rPr lang="hr-HR" sz="3000" dirty="0" smtClean="0"/>
              <a:t>Implementacija: 8 tjedana</a:t>
            </a:r>
          </a:p>
          <a:p>
            <a:pPr lvl="2"/>
            <a:r>
              <a:rPr lang="hr-HR" sz="3000" dirty="0" smtClean="0"/>
              <a:t>Testiranje: 1 tjedan</a:t>
            </a:r>
          </a:p>
          <a:p>
            <a:pPr lvl="2"/>
            <a:r>
              <a:rPr lang="hr-HR" sz="3000" dirty="0" smtClean="0"/>
              <a:t>Dokumentacija: 3 tjedna</a:t>
            </a:r>
          </a:p>
          <a:p>
            <a:pPr lvl="2"/>
            <a:endParaRPr lang="hr-HR" sz="2800" dirty="0"/>
          </a:p>
          <a:p>
            <a:pPr lvl="2"/>
            <a:endParaRPr lang="hr-HR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9949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ORGANIZACIJA RADA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8" y="1751647"/>
            <a:ext cx="9001125" cy="384048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1024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800" noProof="0" dirty="0"/>
              <a:t>Naučene </a:t>
            </a:r>
            <a:r>
              <a:rPr lang="hr-HR" sz="2800" noProof="0" dirty="0" smtClean="0"/>
              <a:t>lekcije:</a:t>
            </a:r>
          </a:p>
          <a:p>
            <a:pPr lvl="1"/>
            <a:r>
              <a:rPr lang="en-US" sz="2800" dirty="0" err="1"/>
              <a:t>učinkovita</a:t>
            </a:r>
            <a:r>
              <a:rPr lang="en-US" sz="2800" dirty="0"/>
              <a:t> </a:t>
            </a:r>
            <a:r>
              <a:rPr lang="en-US" sz="2800" dirty="0" err="1"/>
              <a:t>suradnja</a:t>
            </a:r>
            <a:r>
              <a:rPr lang="en-US" sz="2800" dirty="0"/>
              <a:t> </a:t>
            </a:r>
            <a:r>
              <a:rPr lang="en-US" sz="2800" dirty="0" err="1"/>
              <a:t>tima</a:t>
            </a:r>
            <a:r>
              <a:rPr lang="en-US" sz="2800" dirty="0"/>
              <a:t>, </a:t>
            </a:r>
            <a:r>
              <a:rPr lang="en-US" sz="2800" dirty="0" err="1"/>
              <a:t>korištenje</a:t>
            </a:r>
            <a:r>
              <a:rPr lang="en-US" sz="2800" dirty="0"/>
              <a:t> </a:t>
            </a:r>
            <a:r>
              <a:rPr lang="en-US" sz="2800" dirty="0" smtClean="0"/>
              <a:t>GitHub-a</a:t>
            </a:r>
            <a:endParaRPr lang="hr-HR" sz="2800" noProof="0" dirty="0" smtClean="0"/>
          </a:p>
          <a:p>
            <a:pPr lvl="1"/>
            <a:r>
              <a:rPr lang="hr-HR" sz="2800" dirty="0" smtClean="0">
                <a:sym typeface="Wingdings" panose="05000000000000000000" pitchFamily="2" charset="2"/>
              </a:rPr>
              <a:t>Naučene </a:t>
            </a:r>
            <a:r>
              <a:rPr lang="hr-HR" sz="2800" dirty="0">
                <a:sym typeface="Wingdings" panose="05000000000000000000" pitchFamily="2" charset="2"/>
              </a:rPr>
              <a:t>nove tehnologije: React, Supabase, Render, Vite, Stripe, Google OAuth 2.0, Google Maps API, JUnit, Selenium</a:t>
            </a:r>
          </a:p>
          <a:p>
            <a:pPr lvl="1"/>
            <a:endParaRPr lang="hr-HR" sz="2800" noProof="0" dirty="0" smtClean="0"/>
          </a:p>
          <a:p>
            <a:r>
              <a:rPr lang="hr-HR" sz="2800" dirty="0" smtClean="0"/>
              <a:t>Nikako ne ponoviti:</a:t>
            </a:r>
          </a:p>
          <a:p>
            <a:pPr lvl="1"/>
            <a:r>
              <a:rPr lang="en-US" sz="2800" dirty="0" err="1"/>
              <a:t>neorganizirano</a:t>
            </a:r>
            <a:r>
              <a:rPr lang="en-US" sz="2800" dirty="0"/>
              <a:t> </a:t>
            </a:r>
            <a:r>
              <a:rPr lang="en-US" sz="2800" dirty="0" err="1"/>
              <a:t>rješavanje</a:t>
            </a:r>
            <a:r>
              <a:rPr lang="en-US" sz="2800" dirty="0"/>
              <a:t> </a:t>
            </a:r>
            <a:r>
              <a:rPr lang="en-US" sz="2800" dirty="0" err="1"/>
              <a:t>problema</a:t>
            </a:r>
            <a:r>
              <a:rPr lang="en-US" sz="2800" dirty="0"/>
              <a:t> u </a:t>
            </a:r>
            <a:r>
              <a:rPr lang="en-US" sz="2800" dirty="0" err="1"/>
              <a:t>zadnji</a:t>
            </a:r>
            <a:r>
              <a:rPr lang="en-US" sz="2800" dirty="0"/>
              <a:t> </a:t>
            </a:r>
            <a:r>
              <a:rPr lang="en-US" sz="2800" dirty="0" err="1"/>
              <a:t>trenutak</a:t>
            </a:r>
            <a:endParaRPr lang="hr-HR" sz="2800" noProof="0" dirty="0"/>
          </a:p>
          <a:p>
            <a:pPr lvl="1"/>
            <a:endParaRPr lang="hr-HR" sz="2800" noProof="0" dirty="0">
              <a:sym typeface="Wingdings" panose="05000000000000000000" pitchFamily="2" charset="2"/>
            </a:endParaRPr>
          </a:p>
          <a:p>
            <a:endParaRPr lang="hr-HR" sz="28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1269</TotalTime>
  <Words>461</Words>
  <Application>Microsoft Office PowerPoint</Application>
  <PresentationFormat>On-screen Show (4:3)</PresentationFormat>
  <Paragraphs>116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SPARKAJ!</vt:lpstr>
      <vt:lpstr>Sadržaj</vt:lpstr>
      <vt:lpstr>Sadržaj</vt:lpstr>
      <vt:lpstr>Članovi grupe</vt:lpstr>
      <vt:lpstr>O projektu</vt:lpstr>
      <vt:lpstr>Pregled zahtjeva</vt:lpstr>
      <vt:lpstr>PowerPoint Presentation</vt:lpstr>
      <vt:lpstr>UML dijagram obrazaca uporabe</vt:lpstr>
      <vt:lpstr>SEKVENCIJSKI DIJAGRAM</vt:lpstr>
      <vt:lpstr>Arhitektura sustava</vt:lpstr>
      <vt:lpstr>Ispitivanje</vt:lpstr>
      <vt:lpstr>ISPITIVANJE</vt:lpstr>
      <vt:lpstr>Korišteni alati i tehnologije</vt:lpstr>
      <vt:lpstr>Organizacija rada</vt:lpstr>
      <vt:lpstr>ORGANIZACIJA RADA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User</cp:lastModifiedBy>
  <cp:revision>25</cp:revision>
  <dcterms:created xsi:type="dcterms:W3CDTF">2016-01-18T13:10:52Z</dcterms:created>
  <dcterms:modified xsi:type="dcterms:W3CDTF">2026-01-23T13:47:28Z</dcterms:modified>
</cp:coreProperties>
</file>